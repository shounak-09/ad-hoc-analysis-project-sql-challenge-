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2" r:id="rId18"/>
    <p:sldId id="273" r:id="rId19"/>
    <p:sldId id="274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B2875-4231-4CF7-A09C-E589C925017A}" v="334" dt="2026-02-03T05:08:0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2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3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47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9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5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06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2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48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29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1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776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594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14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005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011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338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53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55CA2B0-8F15-4F06-94DF-33FBF69F6AD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B2622DA-7FBA-4F6E-98C4-201DC7F82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4499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F78A-709A-B907-0A87-674D2F3ABF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cap="none" dirty="0"/>
              <a:t>Ad-Hoc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0EEC1-108C-74D6-4921-25FB19138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Consumer Goods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065A01-EE45-0700-D5C9-FF3ABEC463B7}"/>
              </a:ext>
            </a:extLst>
          </p:cNvPr>
          <p:cNvCxnSpPr>
            <a:cxnSpLocks/>
          </p:cNvCxnSpPr>
          <p:nvPr/>
        </p:nvCxnSpPr>
        <p:spPr>
          <a:xfrm>
            <a:off x="794656" y="4615543"/>
            <a:ext cx="5976257" cy="0"/>
          </a:xfrm>
          <a:prstGeom prst="line">
            <a:avLst/>
          </a:prstGeom>
          <a:ln w="57150">
            <a:solidFill>
              <a:schemeClr val="bg2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091D64B-CE00-7D51-DCBE-849FD9C88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278" y="275803"/>
            <a:ext cx="1305152" cy="12771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855A65-FB38-08A4-41C7-A1B0B6CA4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514" y="275803"/>
            <a:ext cx="1503973" cy="14985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25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134C76-7FB4-4BB7-9322-DD8A4B179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C0C57804-4F33-4D85-AA3E-DA0F214B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FA7BE-6A2D-ED6E-3AD8-4FFF7877F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513114"/>
            <a:ext cx="10277702" cy="1423080"/>
          </a:xfrm>
        </p:spPr>
        <p:txBody>
          <a:bodyPr>
            <a:normAutofit fontScale="90000"/>
          </a:bodyPr>
          <a:lstStyle/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b="1" cap="none" dirty="0">
                <a:solidFill>
                  <a:schemeClr val="accent3"/>
                </a:solidFill>
                <a:latin typeface="Abadi" panose="020F0502020204030204" pitchFamily="34" charset="0"/>
              </a:rPr>
              <a:t>AtliQ Hardwares </a:t>
            </a:r>
            <a:r>
              <a:rPr lang="en-US" sz="2200" cap="none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(abstract company) is one of India’s leading computer hardware manufacturers and has also established A strong presence in </a:t>
            </a:r>
            <a:r>
              <a:rPr lang="en-US" sz="2200" b="1" cap="none" dirty="0">
                <a:solidFill>
                  <a:schemeClr val="accent3"/>
                </a:solidFill>
                <a:latin typeface="Abadi" panose="020F0502020204030204" pitchFamily="34" charset="0"/>
              </a:rPr>
              <a:t>international markets</a:t>
            </a:r>
            <a:r>
              <a:rPr lang="en-US" sz="2200" cap="none" dirty="0"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</a:rPr>
              <a:t>.</a:t>
            </a:r>
            <a:br>
              <a:rPr lang="en-US" sz="1500" cap="none" dirty="0">
                <a:solidFill>
                  <a:schemeClr val="tx2"/>
                </a:solidFill>
              </a:rPr>
            </a:br>
            <a:br>
              <a:rPr lang="en-US" sz="1500" cap="none" dirty="0">
                <a:solidFill>
                  <a:schemeClr val="tx2"/>
                </a:solidFill>
              </a:rPr>
            </a:br>
            <a:br>
              <a:rPr lang="en-US" sz="1500" cap="none" dirty="0">
                <a:solidFill>
                  <a:schemeClr val="tx2"/>
                </a:solidFill>
              </a:rPr>
            </a:br>
            <a:br>
              <a:rPr lang="en-US" sz="1500" cap="none" dirty="0">
                <a:solidFill>
                  <a:schemeClr val="tx2"/>
                </a:solidFill>
              </a:rPr>
            </a:br>
            <a:endParaRPr lang="en-IN" sz="1500" cap="none" dirty="0">
              <a:solidFill>
                <a:schemeClr val="tx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8B2003-BE4D-84A8-7279-B145A69E2960}"/>
              </a:ext>
            </a:extLst>
          </p:cNvPr>
          <p:cNvSpPr txBox="1">
            <a:spLocks/>
          </p:cNvSpPr>
          <p:nvPr/>
        </p:nvSpPr>
        <p:spPr>
          <a:xfrm>
            <a:off x="681037" y="2498728"/>
            <a:ext cx="10277701" cy="142307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cap="none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Despite this growth, the management realized that they lacked </a:t>
            </a:r>
            <a:r>
              <a:rPr lang="en-US" sz="2400" b="1" cap="none" dirty="0">
                <a:solidFill>
                  <a:schemeClr val="accent3"/>
                </a:solidFill>
                <a:latin typeface="Abadi" panose="020B0604020104020204" pitchFamily="34" charset="0"/>
              </a:rPr>
              <a:t>timely and actionable insights</a:t>
            </a:r>
            <a:r>
              <a:rPr lang="en-US" sz="2400" cap="none" dirty="0">
                <a:solidFill>
                  <a:schemeClr val="accent3"/>
                </a:solidFill>
                <a:latin typeface="Abadi" panose="020B0604020104020204" pitchFamily="34" charset="0"/>
              </a:rPr>
              <a:t> </a:t>
            </a:r>
            <a:r>
              <a:rPr lang="en-US" sz="2400" cap="none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to support </a:t>
            </a:r>
            <a:r>
              <a:rPr lang="en-US" sz="2400" b="1" cap="none" dirty="0">
                <a:solidFill>
                  <a:schemeClr val="accent3"/>
                </a:solidFill>
                <a:latin typeface="Abadi" panose="020B0604020104020204" pitchFamily="34" charset="0"/>
              </a:rPr>
              <a:t>quick</a:t>
            </a:r>
            <a:r>
              <a:rPr lang="en-US" sz="2400" cap="none" dirty="0"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n-US" sz="2400" b="1" cap="none" dirty="0">
                <a:solidFill>
                  <a:schemeClr val="accent3"/>
                </a:solidFill>
                <a:latin typeface="Abadi" panose="020B0604020104020204" pitchFamily="34" charset="0"/>
              </a:rPr>
              <a:t>data-driven decision-making</a:t>
            </a:r>
            <a:r>
              <a:rPr lang="en-US" sz="2400" cap="none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. 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200" cap="none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600" cap="none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To address this gap, the company decided to </a:t>
            </a:r>
            <a:r>
              <a:rPr lang="en-US" sz="2600" b="1" cap="none" dirty="0">
                <a:solidFill>
                  <a:schemeClr val="accent3"/>
                </a:solidFill>
                <a:latin typeface="Abadi" panose="020B0604020104020204" pitchFamily="34" charset="0"/>
              </a:rPr>
              <a:t>expand</a:t>
            </a:r>
            <a:r>
              <a:rPr lang="en-US" sz="2600" cap="none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 its data analytics team by hiring several junior data analysts.</a:t>
            </a:r>
            <a:br>
              <a:rPr lang="en-US" sz="1500" cap="none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</a:br>
            <a:br>
              <a:rPr lang="en-US" sz="1500" cap="none" dirty="0">
                <a:solidFill>
                  <a:schemeClr val="tx2"/>
                </a:solidFill>
              </a:rPr>
            </a:br>
            <a:endParaRPr lang="en-IN" sz="1500" cap="none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446B6-A605-390F-9BBB-306D78AE9A14}"/>
              </a:ext>
            </a:extLst>
          </p:cNvPr>
          <p:cNvSpPr txBox="1"/>
          <p:nvPr/>
        </p:nvSpPr>
        <p:spPr>
          <a:xfrm>
            <a:off x="684212" y="3780466"/>
            <a:ext cx="102745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n w="3175" cmpd="sng">
                  <a:noFill/>
                </a:ln>
                <a:solidFill>
                  <a:schemeClr val="accent3"/>
                </a:solidFill>
                <a:latin typeface="Abadi" panose="020B0604020104020204" pitchFamily="34" charset="0"/>
                <a:ea typeface="+mj-ea"/>
                <a:cs typeface="+mj-cs"/>
              </a:rPr>
              <a:t>Tony Sharma</a:t>
            </a: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, the </a:t>
            </a:r>
            <a:r>
              <a:rPr lang="en-US" sz="2000" b="1" dirty="0">
                <a:ln w="3175" cmpd="sng">
                  <a:noFill/>
                </a:ln>
                <a:solidFill>
                  <a:schemeClr val="accent3"/>
                </a:solidFill>
                <a:latin typeface="Abadi" panose="020B0604020104020204" pitchFamily="34" charset="0"/>
                <a:ea typeface="+mj-ea"/>
                <a:cs typeface="+mj-cs"/>
              </a:rPr>
              <a:t>director of data analytics</a:t>
            </a: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, was looking for candidates who could demonstrate both </a:t>
            </a:r>
            <a:r>
              <a:rPr lang="en-US" sz="2000" b="1" dirty="0">
                <a:ln w="3175" cmpd="sng">
                  <a:noFill/>
                </a:ln>
                <a:solidFill>
                  <a:schemeClr val="accent3"/>
                </a:solidFill>
                <a:latin typeface="Abadi" panose="020B0604020104020204" pitchFamily="34" charset="0"/>
                <a:ea typeface="+mj-ea"/>
                <a:cs typeface="+mj-cs"/>
              </a:rPr>
              <a:t>strong technical expertise </a:t>
            </a: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and </a:t>
            </a:r>
            <a:r>
              <a:rPr lang="en-US" sz="2000" b="1" dirty="0">
                <a:ln w="3175" cmpd="sng">
                  <a:noFill/>
                </a:ln>
                <a:solidFill>
                  <a:schemeClr val="accent3"/>
                </a:solidFill>
                <a:latin typeface="Abadi" panose="020B0604020104020204" pitchFamily="34" charset="0"/>
                <a:ea typeface="+mj-ea"/>
                <a:cs typeface="+mj-cs"/>
              </a:rPr>
              <a:t>effective communication </a:t>
            </a: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skills.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n w="3175" cmpd="sng">
                <a:noFill/>
              </a:ln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+mj-c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To evaluate these abilities, he designed </a:t>
            </a:r>
            <a:r>
              <a:rPr lang="en-US" sz="2000" b="1" dirty="0">
                <a:ln w="3175" cmpd="sng">
                  <a:noFill/>
                </a:ln>
                <a:solidFill>
                  <a:schemeClr val="accent3"/>
                </a:solidFill>
                <a:latin typeface="Abadi" panose="020B0604020104020204" pitchFamily="34" charset="0"/>
                <a:ea typeface="+mj-ea"/>
                <a:cs typeface="+mj-cs"/>
              </a:rPr>
              <a:t>A SQL challenge </a:t>
            </a: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that would assess not only the candidates’ technical proficiency but also their problem-solving and business understanding.</a:t>
            </a:r>
          </a:p>
          <a:p>
            <a:endParaRPr lang="en-US" sz="2000" dirty="0">
              <a:ln w="3175" cmpd="sng">
                <a:noFill/>
              </a:ln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+mj-c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The company seeks insights for </a:t>
            </a:r>
            <a:r>
              <a:rPr lang="en-US" sz="2000" b="1" dirty="0">
                <a:ln w="3175" cmpd="sng">
                  <a:noFill/>
                </a:ln>
                <a:solidFill>
                  <a:schemeClr val="accent3"/>
                </a:solidFill>
                <a:latin typeface="Abadi" panose="020B0604020104020204" pitchFamily="34" charset="0"/>
                <a:ea typeface="+mj-ea"/>
                <a:cs typeface="+mj-cs"/>
              </a:rPr>
              <a:t>10 Ad-Hoc </a:t>
            </a:r>
            <a:r>
              <a:rPr lang="en-US" sz="2000" dirty="0">
                <a:ln w="3175" cmpd="sng">
                  <a:noFill/>
                </a:ln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Business requests. </a:t>
            </a:r>
            <a:endParaRPr lang="en-IN" sz="2000" dirty="0">
              <a:ln w="3175" cmpd="sng">
                <a:noFill/>
              </a:ln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2B0A1-EE55-9191-48D5-95599C80465E}"/>
              </a:ext>
            </a:extLst>
          </p:cNvPr>
          <p:cNvSpPr txBox="1"/>
          <p:nvPr/>
        </p:nvSpPr>
        <p:spPr>
          <a:xfrm>
            <a:off x="2374557" y="282008"/>
            <a:ext cx="6890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882703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3F3C5-1FF7-4715-543D-E8A076DD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0CE36E-E98D-BB62-C7FA-841854D0A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550CEF0E-6429-F38C-460C-D4ABF9654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1426EA-7B47-8947-C74A-17E2F754D51A}"/>
              </a:ext>
            </a:extLst>
          </p:cNvPr>
          <p:cNvSpPr/>
          <p:nvPr/>
        </p:nvSpPr>
        <p:spPr>
          <a:xfrm>
            <a:off x="7348198" y="4095398"/>
            <a:ext cx="4581748" cy="2585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sz="1600" b="1" u="sng" dirty="0">
                <a:solidFill>
                  <a:schemeClr val="bg1"/>
                </a:solidFill>
              </a:rPr>
              <a:t>Fiscal Years</a:t>
            </a:r>
          </a:p>
          <a:p>
            <a:pPr algn="ctr"/>
            <a:endParaRPr lang="en-IN" sz="1600" b="1" dirty="0">
              <a:solidFill>
                <a:schemeClr val="bg1"/>
              </a:solidFill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</a:rPr>
              <a:t>September 2019 – August 2020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</a:rPr>
              <a:t>(FY 2020)</a:t>
            </a:r>
          </a:p>
          <a:p>
            <a:pPr algn="ctr"/>
            <a:endParaRPr lang="en-IN" sz="1600" dirty="0">
              <a:solidFill>
                <a:schemeClr val="bg1"/>
              </a:solidFill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</a:rPr>
              <a:t>September 2020 – August 2021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</a:rPr>
              <a:t>(FY 2021)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C71EE-F9B1-D07D-038D-EF30F18812A6}"/>
              </a:ext>
            </a:extLst>
          </p:cNvPr>
          <p:cNvSpPr txBox="1"/>
          <p:nvPr/>
        </p:nvSpPr>
        <p:spPr>
          <a:xfrm>
            <a:off x="3897085" y="43543"/>
            <a:ext cx="390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i="1" dirty="0"/>
              <a:t>COMPANY DETAILS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EB5EA629-5A4F-DBAF-EB25-388CD087605C}"/>
              </a:ext>
            </a:extLst>
          </p:cNvPr>
          <p:cNvSpPr/>
          <p:nvPr/>
        </p:nvSpPr>
        <p:spPr>
          <a:xfrm>
            <a:off x="892629" y="1616529"/>
            <a:ext cx="2634343" cy="40386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r>
              <a:rPr lang="en-IN" b="1" u="sng" dirty="0"/>
              <a:t>Category</a:t>
            </a:r>
          </a:p>
          <a:p>
            <a:pPr algn="ctr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Motherboard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Keyboard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Personal Laptop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Business Laptop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Gaming Laptop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Personal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External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USB Flash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Wi-fi Extender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E08EDF39-F423-E22F-BB72-A59D67F39B62}"/>
              </a:ext>
            </a:extLst>
          </p:cNvPr>
          <p:cNvSpPr/>
          <p:nvPr/>
        </p:nvSpPr>
        <p:spPr>
          <a:xfrm>
            <a:off x="4612819" y="1616529"/>
            <a:ext cx="2476501" cy="3265714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u="sng" dirty="0"/>
          </a:p>
          <a:p>
            <a:pPr algn="ctr"/>
            <a:r>
              <a:rPr lang="en-IN" b="1" u="sng" dirty="0"/>
              <a:t>Segment</a:t>
            </a:r>
          </a:p>
          <a:p>
            <a:pPr algn="ctr"/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Peripherals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Networking</a:t>
            </a:r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3D9547DF-9797-51B8-FC5A-63FE8041C9BA}"/>
              </a:ext>
            </a:extLst>
          </p:cNvPr>
          <p:cNvSpPr/>
          <p:nvPr/>
        </p:nvSpPr>
        <p:spPr>
          <a:xfrm>
            <a:off x="8175167" y="1616529"/>
            <a:ext cx="2149931" cy="224245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r>
              <a:rPr lang="en-IN" b="1" u="sng" dirty="0"/>
              <a:t>Division</a:t>
            </a:r>
          </a:p>
          <a:p>
            <a:pPr algn="ctr"/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 &amp;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 &amp; C</a:t>
            </a:r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7D9BE47-027E-8484-8286-9408B10705B7}"/>
              </a:ext>
            </a:extLst>
          </p:cNvPr>
          <p:cNvSpPr/>
          <p:nvPr/>
        </p:nvSpPr>
        <p:spPr>
          <a:xfrm>
            <a:off x="3830184" y="3276600"/>
            <a:ext cx="639988" cy="5232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0374497-A527-EC33-92F7-D01BADFEA873}"/>
              </a:ext>
            </a:extLst>
          </p:cNvPr>
          <p:cNvSpPr/>
          <p:nvPr/>
        </p:nvSpPr>
        <p:spPr>
          <a:xfrm>
            <a:off x="7381195" y="3276600"/>
            <a:ext cx="639988" cy="5232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3F7AB6-1A9E-B396-A4C3-0CA4D1BA4EBB}"/>
              </a:ext>
            </a:extLst>
          </p:cNvPr>
          <p:cNvSpPr txBox="1"/>
          <p:nvPr/>
        </p:nvSpPr>
        <p:spPr>
          <a:xfrm>
            <a:off x="1091632" y="741206"/>
            <a:ext cx="1000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Segoe UI" panose="020B0502040204020203" pitchFamily="34" charset="0"/>
              </a:rPr>
              <a:t>AtliQ Hardware is a computer hardware and accessories manufacturer</a:t>
            </a:r>
          </a:p>
        </p:txBody>
      </p:sp>
    </p:spTree>
    <p:extLst>
      <p:ext uri="{BB962C8B-B14F-4D97-AF65-F5344CB8AC3E}">
        <p14:creationId xmlns:p14="http://schemas.microsoft.com/office/powerpoint/2010/main" val="2316796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BD2A9-B576-D3A0-3988-7E3C1BB1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2D8CD66-6E34-4232-868C-F61EC84A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1EDB24-D25E-4498-9742-07355DA2B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E5C3020-0F81-4919-9D1F-B6ED9A835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ECD783-8E88-4D10-99BD-C579F0CA2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EDE005-2618-4634-B693-DAB7F6013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4252634-CD2F-416D-80D4-1C184472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933ED340-0873-82CF-D3C8-46ACAAE0A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" b="14947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C133255-333F-72D5-6C9E-D751403EF91F}"/>
              </a:ext>
            </a:extLst>
          </p:cNvPr>
          <p:cNvSpPr txBox="1"/>
          <p:nvPr/>
        </p:nvSpPr>
        <p:spPr>
          <a:xfrm>
            <a:off x="6683829" y="65314"/>
            <a:ext cx="5399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>
                <a:solidFill>
                  <a:schemeClr val="bg1"/>
                </a:solidFill>
              </a:rPr>
              <a:t>COMPANY MARKETS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B0E262-27BB-AC18-DA85-3B0207BEFFE3}"/>
              </a:ext>
            </a:extLst>
          </p:cNvPr>
          <p:cNvSpPr txBox="1"/>
          <p:nvPr/>
        </p:nvSpPr>
        <p:spPr>
          <a:xfrm>
            <a:off x="10614630" y="2814316"/>
            <a:ext cx="12518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APAC</a:t>
            </a:r>
            <a:endParaRPr lang="en-IN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India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Indonesia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Japan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Pakistan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Philippines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South Korea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Australia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New Zealand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Bangladesh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China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A226AE-AF5B-554F-9876-E1A0774C167C}"/>
              </a:ext>
            </a:extLst>
          </p:cNvPr>
          <p:cNvSpPr txBox="1"/>
          <p:nvPr/>
        </p:nvSpPr>
        <p:spPr>
          <a:xfrm>
            <a:off x="3883941" y="1838418"/>
            <a:ext cx="1251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EMEA</a:t>
            </a:r>
            <a:endParaRPr lang="en-IN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France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Germany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Italy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Netherlands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Norway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Poland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Portugal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Spain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Sweden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Austria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United Kingdom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9CA4FF-1250-8DB5-036D-79079AE1336B}"/>
              </a:ext>
            </a:extLst>
          </p:cNvPr>
          <p:cNvSpPr txBox="1"/>
          <p:nvPr/>
        </p:nvSpPr>
        <p:spPr>
          <a:xfrm>
            <a:off x="108857" y="434646"/>
            <a:ext cx="1251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NA</a:t>
            </a:r>
            <a:endParaRPr lang="en-IN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USA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CANADA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826FD5-B8FB-5DC9-24CC-A5D3DD9CB3DE}"/>
              </a:ext>
            </a:extLst>
          </p:cNvPr>
          <p:cNvSpPr txBox="1"/>
          <p:nvPr/>
        </p:nvSpPr>
        <p:spPr>
          <a:xfrm>
            <a:off x="629591" y="4435042"/>
            <a:ext cx="12518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LATAM</a:t>
            </a:r>
            <a:endParaRPr lang="en-US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Mexico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Brazil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Chile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Columbia</a:t>
            </a:r>
            <a:endParaRPr lang="en-IN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1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01EAE-16AB-FB4F-8214-E061F9BD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D24E29-F696-5860-A927-D2B62CE46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D22FB9F3-5FA6-AE5D-97A4-E6004D018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5BFADC-A06B-3982-3909-9C42D9D4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91" y="685799"/>
            <a:ext cx="4593933" cy="5906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534044-439D-5268-C841-C2DD062BD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24" y="689986"/>
            <a:ext cx="4593933" cy="59352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FD1F93-DB77-9674-74C3-12DDB0ADC91C}"/>
              </a:ext>
            </a:extLst>
          </p:cNvPr>
          <p:cNvSpPr txBox="1"/>
          <p:nvPr/>
        </p:nvSpPr>
        <p:spPr>
          <a:xfrm>
            <a:off x="3080658" y="156141"/>
            <a:ext cx="568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/>
              <a:t>BUSINESS REQUESTS</a:t>
            </a:r>
          </a:p>
        </p:txBody>
      </p:sp>
    </p:spTree>
    <p:extLst>
      <p:ext uri="{BB962C8B-B14F-4D97-AF65-F5344CB8AC3E}">
        <p14:creationId xmlns:p14="http://schemas.microsoft.com/office/powerpoint/2010/main" val="2989863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7266E-4344-93FA-D207-2511197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320282-45F6-AFDC-A20E-F2AB58438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B786FE35-2A5A-A290-8580-06389BA88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0CD532-198A-565D-1190-8EBB6FD48661}"/>
              </a:ext>
            </a:extLst>
          </p:cNvPr>
          <p:cNvSpPr txBox="1"/>
          <p:nvPr/>
        </p:nvSpPr>
        <p:spPr>
          <a:xfrm>
            <a:off x="1817916" y="58351"/>
            <a:ext cx="568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/>
              <a:t>DATA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C42E3-A3D5-3822-46B0-698A511C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7" y="578366"/>
            <a:ext cx="10168385" cy="6162932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1911C43-B112-C797-55CC-31C5AE15504D}"/>
              </a:ext>
            </a:extLst>
          </p:cNvPr>
          <p:cNvSpPr/>
          <p:nvPr/>
        </p:nvSpPr>
        <p:spPr>
          <a:xfrm>
            <a:off x="10295158" y="1943101"/>
            <a:ext cx="1770069" cy="1572985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r>
              <a:rPr lang="en-IN" b="1" u="sng" dirty="0"/>
              <a:t>Tools Used</a:t>
            </a:r>
          </a:p>
          <a:p>
            <a:pPr algn="ctr"/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Power BI</a:t>
            </a:r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  <a:p>
            <a:pPr algn="ctr"/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167867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6B207-C574-3B1F-4B61-296D533E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B1B47D-580C-B2D5-F09D-757BA2EA8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F1876536-96B7-A435-152B-558F12F5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132DE-8FA6-0A8C-8DDA-2F906482871A}"/>
              </a:ext>
            </a:extLst>
          </p:cNvPr>
          <p:cNvSpPr txBox="1"/>
          <p:nvPr/>
        </p:nvSpPr>
        <p:spPr>
          <a:xfrm>
            <a:off x="876299" y="253777"/>
            <a:ext cx="9617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Provide the list of markets in which customer "AtliQ Exclusive" operates its business in the APAC region. 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3031D-A9EE-4E7B-C81F-FCA52D5D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83" y="1376394"/>
            <a:ext cx="2765632" cy="3435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7A4926-BE9A-F309-3028-D02D32B4D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599" y="1376393"/>
            <a:ext cx="5251554" cy="511924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5FF77C3-8E93-FF1A-D220-631DD1C06261}"/>
              </a:ext>
            </a:extLst>
          </p:cNvPr>
          <p:cNvSpPr/>
          <p:nvPr/>
        </p:nvSpPr>
        <p:spPr>
          <a:xfrm>
            <a:off x="4452257" y="2960914"/>
            <a:ext cx="566057" cy="391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099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7A2D3-58F5-DC6A-76D6-1E0531AF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BADD1B-D46B-7164-A5D0-827FAE3B9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3FD38B69-50F9-9431-454F-55A41285F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3ADA7-3194-5B6B-C57D-E88E6287EBAD}"/>
              </a:ext>
            </a:extLst>
          </p:cNvPr>
          <p:cNvSpPr txBox="1"/>
          <p:nvPr/>
        </p:nvSpPr>
        <p:spPr>
          <a:xfrm>
            <a:off x="876299" y="253777"/>
            <a:ext cx="9617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What is the percentage of unique product increase in 2021 vs. 2020? The final output contains these fields: unique_products_2020 , unique_products_2021 , </a:t>
            </a:r>
            <a:r>
              <a:rPr lang="en-US" sz="1600" b="1" dirty="0" err="1"/>
              <a:t>percentage_chg</a:t>
            </a:r>
            <a:r>
              <a:rPr lang="en-US" sz="1600" b="1" dirty="0"/>
              <a:t>. </a:t>
            </a:r>
            <a:endParaRPr lang="en-IN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B3925-BFDB-D5CB-9A46-DA296C46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8" y="1225091"/>
            <a:ext cx="7267301" cy="812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0B8CB0-CE38-AD56-5947-F982DAEB5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730" y="2235233"/>
            <a:ext cx="6606828" cy="4486042"/>
          </a:xfrm>
          <a:prstGeom prst="rect">
            <a:avLst/>
          </a:prstGeom>
        </p:spPr>
      </p:pic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FF49E4FA-488D-8199-55E5-76210357FC50}"/>
              </a:ext>
            </a:extLst>
          </p:cNvPr>
          <p:cNvSpPr/>
          <p:nvPr/>
        </p:nvSpPr>
        <p:spPr>
          <a:xfrm rot="5400000">
            <a:off x="4046148" y="2380083"/>
            <a:ext cx="812215" cy="52251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1E7AF-2FF6-30CC-FBC0-4B76B10E2D41}"/>
              </a:ext>
            </a:extLst>
          </p:cNvPr>
          <p:cNvSpPr txBox="1"/>
          <p:nvPr/>
        </p:nvSpPr>
        <p:spPr>
          <a:xfrm>
            <a:off x="415442" y="2656114"/>
            <a:ext cx="3568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89 New Products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have been introduced in fiscal year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2021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Production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has increased.</a:t>
            </a:r>
          </a:p>
        </p:txBody>
      </p:sp>
    </p:spTree>
    <p:extLst>
      <p:ext uri="{BB962C8B-B14F-4D97-AF65-F5344CB8AC3E}">
        <p14:creationId xmlns:p14="http://schemas.microsoft.com/office/powerpoint/2010/main" val="2618345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14E8D-6EEB-5853-5D6C-6925AB0D6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7AC9EA-FE58-DC79-6192-5FB708767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556424F2-A48A-BA89-7493-E1CA9A2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E30CE-A9E4-9F1F-A176-B97953966FCD}"/>
              </a:ext>
            </a:extLst>
          </p:cNvPr>
          <p:cNvSpPr txBox="1"/>
          <p:nvPr/>
        </p:nvSpPr>
        <p:spPr>
          <a:xfrm>
            <a:off x="876299" y="253777"/>
            <a:ext cx="9617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3. </a:t>
            </a:r>
            <a:r>
              <a:rPr lang="en-US" sz="1600" b="1" dirty="0"/>
              <a:t>Provide a report with all the unique product counts for each segment and sort them in descending order of product counts. </a:t>
            </a:r>
          </a:p>
          <a:p>
            <a:r>
              <a:rPr lang="en-US" sz="1600" b="1" dirty="0"/>
              <a:t>The final output contains 2 fields: segment , </a:t>
            </a:r>
            <a:r>
              <a:rPr lang="en-US" sz="1600" b="1" dirty="0" err="1"/>
              <a:t>product_count</a:t>
            </a:r>
            <a:r>
              <a:rPr lang="en-US" sz="1600" b="1" dirty="0"/>
              <a:t>. </a:t>
            </a:r>
            <a:endParaRPr lang="en-IN" sz="1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07B98A-B9BE-0486-E0CC-DE1EBBE2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300" y="1619092"/>
            <a:ext cx="5545929" cy="443336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63ECF6B5-5BAD-BEFB-76D9-9FAE8DFB7700}"/>
              </a:ext>
            </a:extLst>
          </p:cNvPr>
          <p:cNvSpPr/>
          <p:nvPr/>
        </p:nvSpPr>
        <p:spPr>
          <a:xfrm>
            <a:off x="4484914" y="3037114"/>
            <a:ext cx="566057" cy="391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2CA9F-D9DB-2DB2-2365-CF5BA70B7B43}"/>
              </a:ext>
            </a:extLst>
          </p:cNvPr>
          <p:cNvSpPr txBox="1"/>
          <p:nvPr/>
        </p:nvSpPr>
        <p:spPr>
          <a:xfrm>
            <a:off x="1019886" y="4279309"/>
            <a:ext cx="34650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Peripherals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Accessories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&amp;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Notebooks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are amongst top segments to have new products introduced.</a:t>
            </a:r>
          </a:p>
          <a:p>
            <a:endParaRPr lang="en-IN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47A185-3241-1B27-105C-D1EBF3DB7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86" y="1563028"/>
            <a:ext cx="2877200" cy="239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11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06754-0680-2F7D-4964-92720168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D6BD63-E212-06A2-7AD6-8112D5C7A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B3C20F00-CEDA-2724-8E5D-6E763DFF7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93A96-6671-524C-B048-292CF85FD9C0}"/>
              </a:ext>
            </a:extLst>
          </p:cNvPr>
          <p:cNvSpPr txBox="1"/>
          <p:nvPr/>
        </p:nvSpPr>
        <p:spPr>
          <a:xfrm>
            <a:off x="876299" y="253777"/>
            <a:ext cx="9617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</a:t>
            </a:r>
            <a:r>
              <a:rPr lang="en-US" sz="1600" b="1" dirty="0"/>
              <a:t>Follow-up: Which segment had the most increase in unique products in 2021 vs 2020? The final output contains these fields: </a:t>
            </a:r>
          </a:p>
          <a:p>
            <a:r>
              <a:rPr lang="en-US" sz="1600" b="1" dirty="0"/>
              <a:t>Segment , product_count_2020 , product_count_2021 , difference. </a:t>
            </a:r>
            <a:endParaRPr lang="en-IN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05364-6B09-C710-2816-9F835B195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39" y="1358375"/>
            <a:ext cx="5321159" cy="1656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42B3D7-F124-234B-E65C-16FF85F35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583" y="3156858"/>
            <a:ext cx="7512140" cy="3449958"/>
          </a:xfrm>
          <a:prstGeom prst="rect">
            <a:avLst/>
          </a:prstGeom>
        </p:spPr>
      </p:pic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F0D26407-966E-3628-D9AE-95239F8FA83D}"/>
              </a:ext>
            </a:extLst>
          </p:cNvPr>
          <p:cNvSpPr/>
          <p:nvPr/>
        </p:nvSpPr>
        <p:spPr>
          <a:xfrm rot="5400000">
            <a:off x="3262565" y="3532367"/>
            <a:ext cx="1202490" cy="480211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45F43-F2AB-5907-3433-932E444BC1E8}"/>
              </a:ext>
            </a:extLst>
          </p:cNvPr>
          <p:cNvSpPr txBox="1"/>
          <p:nvPr/>
        </p:nvSpPr>
        <p:spPr>
          <a:xfrm>
            <a:off x="418839" y="3429000"/>
            <a:ext cx="30537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Accessories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had the largest increase in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Storage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&amp;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Networking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are showing slower production growth than other segments.</a:t>
            </a:r>
          </a:p>
        </p:txBody>
      </p:sp>
    </p:spTree>
    <p:extLst>
      <p:ext uri="{BB962C8B-B14F-4D97-AF65-F5344CB8AC3E}">
        <p14:creationId xmlns:p14="http://schemas.microsoft.com/office/powerpoint/2010/main" val="3330454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7E952-705E-7B3F-075E-056AD2CE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81B7F1-64E5-C77E-CE3F-8351FAD03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81702D2E-F8A1-0FBA-3574-0085EE484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168AC-0C38-D9A1-8C31-71AA3B5A81DA}"/>
              </a:ext>
            </a:extLst>
          </p:cNvPr>
          <p:cNvSpPr txBox="1"/>
          <p:nvPr/>
        </p:nvSpPr>
        <p:spPr>
          <a:xfrm>
            <a:off x="876299" y="253777"/>
            <a:ext cx="9617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5. Get the products that have the highest and lowest manufacturing costs. The final output should contain these fields: product code , product , manufacturing cost.</a:t>
            </a:r>
            <a:endParaRPr lang="en-IN" sz="1600" b="1" dirty="0"/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1D9B0810-A8EC-192D-85A0-0657596CAFE7}"/>
              </a:ext>
            </a:extLst>
          </p:cNvPr>
          <p:cNvSpPr/>
          <p:nvPr/>
        </p:nvSpPr>
        <p:spPr>
          <a:xfrm rot="5400000">
            <a:off x="4647544" y="2966156"/>
            <a:ext cx="838274" cy="51286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6D809-5889-5C0B-B628-AE7A29705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94" y="1470297"/>
            <a:ext cx="5486875" cy="838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14152F-0D92-44D7-1831-7885C50C9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441879"/>
            <a:ext cx="4701947" cy="38636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F0579E-D244-0CC4-BABF-C171515E14F2}"/>
              </a:ext>
            </a:extLst>
          </p:cNvPr>
          <p:cNvSpPr txBox="1"/>
          <p:nvPr/>
        </p:nvSpPr>
        <p:spPr>
          <a:xfrm>
            <a:off x="782294" y="2960914"/>
            <a:ext cx="37570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Mouse – AQ Master wired x 1 (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Variant – Standard 1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) has the lowest Manufacturing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Personal Desktop – AQ Home Allin 1 (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Variant – Standard 3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) has the highest Manufacturing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53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ADFD4-A13D-0FF8-5924-B30FC73D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4F9A0A-5A7E-834B-D918-7F7596847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F4B60663-4B97-34E5-3446-EB848C24E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48751-D377-3D3A-3FCE-55F608070F2D}"/>
              </a:ext>
            </a:extLst>
          </p:cNvPr>
          <p:cNvSpPr txBox="1"/>
          <p:nvPr/>
        </p:nvSpPr>
        <p:spPr>
          <a:xfrm>
            <a:off x="876299" y="253777"/>
            <a:ext cx="9617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6. Generate a report which contains the top 5 customers who received an average high </a:t>
            </a:r>
            <a:r>
              <a:rPr lang="en-US" sz="1600" b="1" dirty="0" err="1"/>
              <a:t>pre_invoice_discount_pct</a:t>
            </a:r>
            <a:r>
              <a:rPr lang="en-US" sz="1600" b="1" dirty="0"/>
              <a:t> for the fiscal year 2021 and in the Indian market. </a:t>
            </a:r>
          </a:p>
          <a:p>
            <a:r>
              <a:rPr lang="en-US" sz="1600" b="1" dirty="0"/>
              <a:t>The final output contains these fields: customer_code, customer, </a:t>
            </a:r>
            <a:r>
              <a:rPr lang="en-US" sz="1600" b="1" dirty="0" err="1"/>
              <a:t>average_discount_percentage</a:t>
            </a:r>
            <a:endParaRPr lang="en-IN" sz="1600" b="1" dirty="0"/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3F6A1FEB-E0CC-3033-70CF-B742790D7625}"/>
              </a:ext>
            </a:extLst>
          </p:cNvPr>
          <p:cNvSpPr/>
          <p:nvPr/>
        </p:nvSpPr>
        <p:spPr>
          <a:xfrm rot="5400000">
            <a:off x="4843425" y="3453065"/>
            <a:ext cx="1060976" cy="56729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EDD507-BEEA-B6A9-5585-57C1AAF7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85" y="1333899"/>
            <a:ext cx="3810330" cy="16232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1F4712-F3E2-B553-AA9C-E9158697D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602" y="2519651"/>
            <a:ext cx="4930567" cy="29034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9F0909-081D-A5C0-9547-56F6161D2E36}"/>
              </a:ext>
            </a:extLst>
          </p:cNvPr>
          <p:cNvSpPr txBox="1"/>
          <p:nvPr/>
        </p:nvSpPr>
        <p:spPr>
          <a:xfrm>
            <a:off x="876299" y="3429000"/>
            <a:ext cx="37065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Highest Average Pre-Discount was given to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Flipkart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Lowest Average Pre-Discount was given to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Amazon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209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23AAA-928B-215C-1B2B-40E9DCDB4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6DAF53-CCC8-CA58-5B8B-5A8462DE9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95C8EDEA-AFA5-A26D-6646-2535C2D90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5328D-04C5-9C18-1CFE-B60FDED9A326}"/>
              </a:ext>
            </a:extLst>
          </p:cNvPr>
          <p:cNvSpPr txBox="1"/>
          <p:nvPr/>
        </p:nvSpPr>
        <p:spPr>
          <a:xfrm>
            <a:off x="506185" y="79090"/>
            <a:ext cx="9617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7. Get the complete report of the Gross sales amount for the customer “</a:t>
            </a:r>
            <a:r>
              <a:rPr lang="en-US" sz="1600" b="1" dirty="0" err="1"/>
              <a:t>Atliq</a:t>
            </a:r>
            <a:r>
              <a:rPr lang="en-US" sz="1600" b="1" dirty="0"/>
              <a:t> Exclusive” for each month. This analysis helps to get an idea of low and high-performing months and take strategic decisions. The final report contains these columns: Month, Year, Gross sales Amount </a:t>
            </a:r>
            <a:endParaRPr lang="en-IN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32BE7-D94F-8253-0D86-AF9DAE6F4490}"/>
              </a:ext>
            </a:extLst>
          </p:cNvPr>
          <p:cNvSpPr txBox="1"/>
          <p:nvPr/>
        </p:nvSpPr>
        <p:spPr>
          <a:xfrm>
            <a:off x="845757" y="1336174"/>
            <a:ext cx="1513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FY 2020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0F9A9-F205-FC96-D55D-AAF64BE24AAB}"/>
              </a:ext>
            </a:extLst>
          </p:cNvPr>
          <p:cNvSpPr txBox="1"/>
          <p:nvPr/>
        </p:nvSpPr>
        <p:spPr>
          <a:xfrm>
            <a:off x="4213737" y="1336174"/>
            <a:ext cx="1513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FY 2021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54545-1007-E8FF-356E-83DA8C30A2DA}"/>
              </a:ext>
            </a:extLst>
          </p:cNvPr>
          <p:cNvSpPr txBox="1"/>
          <p:nvPr/>
        </p:nvSpPr>
        <p:spPr>
          <a:xfrm>
            <a:off x="7239000" y="1705506"/>
            <a:ext cx="42454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Gross Sales for the month of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Nov 2020 (FY-21)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was at its peak at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32.2 Mil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Gross Sales in the month of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March 2020 &amp; 2021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was at its lowest.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The low Gross Sales was due to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COVID-19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Pandemic.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403DAB-79BF-66BA-818D-F044A24E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16" y="1705506"/>
            <a:ext cx="3063505" cy="33911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A6046E-72CA-5B76-FE9C-0EB76212C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137" y="1697885"/>
            <a:ext cx="3063505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52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2388F-A0B8-1838-0556-0547A86C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84E6C1-551D-7360-403C-84173A346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0B30DECE-9370-C6F0-F518-E57320BAB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06803-2FA2-E3A8-D8D6-BE42455D54CE}"/>
              </a:ext>
            </a:extLst>
          </p:cNvPr>
          <p:cNvSpPr txBox="1"/>
          <p:nvPr/>
        </p:nvSpPr>
        <p:spPr>
          <a:xfrm>
            <a:off x="1128480" y="5061857"/>
            <a:ext cx="946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Total Gross Sales for FY-21 is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224.4 Mil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which is significantly higher (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approx. 75 %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) than the Total FY-20 for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79.4 Mil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A8065-CC0A-76FB-1437-29F4D24F1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85" y="827314"/>
            <a:ext cx="9463319" cy="39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58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F23F3-2F47-E8E0-A5D0-49B9D04A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2BE069-0431-0B7A-B887-D90CD2244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35566CE2-CB1B-02EE-9D40-C332A7019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F68CA-D74C-8F89-5AB4-AB297E15D7C4}"/>
              </a:ext>
            </a:extLst>
          </p:cNvPr>
          <p:cNvSpPr txBox="1"/>
          <p:nvPr/>
        </p:nvSpPr>
        <p:spPr>
          <a:xfrm>
            <a:off x="506185" y="79090"/>
            <a:ext cx="9617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8. In which quarter of 2020, got the maximum </a:t>
            </a:r>
            <a:r>
              <a:rPr lang="en-US" sz="1600" b="1" dirty="0" err="1"/>
              <a:t>total_sold_quantity</a:t>
            </a:r>
            <a:r>
              <a:rPr lang="en-US" sz="1600" b="1" dirty="0"/>
              <a:t>? The final output contains these fields sorted by the </a:t>
            </a:r>
            <a:r>
              <a:rPr lang="en-US" sz="1600" b="1" dirty="0" err="1"/>
              <a:t>total_sold_quantity</a:t>
            </a:r>
            <a:r>
              <a:rPr lang="en-US" sz="1600" b="1" dirty="0"/>
              <a:t>: Quarter, </a:t>
            </a:r>
            <a:r>
              <a:rPr lang="en-US" sz="1600" b="1" dirty="0" err="1"/>
              <a:t>total_sold_quantity</a:t>
            </a:r>
            <a:r>
              <a:rPr lang="en-US" sz="1600" b="1" dirty="0"/>
              <a:t>.</a:t>
            </a:r>
            <a:endParaRPr lang="en-IN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52D53-0550-FDD4-89F3-5B3C7B78E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1043741"/>
            <a:ext cx="2767789" cy="135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6B774F-A3D2-8690-CC99-061993A33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044" y="1215876"/>
            <a:ext cx="5189670" cy="37341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A62A40-44DC-1A17-DE8A-76ACE64E980E}"/>
              </a:ext>
            </a:extLst>
          </p:cNvPr>
          <p:cNvSpPr txBox="1"/>
          <p:nvPr/>
        </p:nvSpPr>
        <p:spPr>
          <a:xfrm>
            <a:off x="990600" y="2808515"/>
            <a:ext cx="3222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 FY-20,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Quarter 1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has the highest sold quantity and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Quarter 3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has the lowest sold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679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C4973-B7F7-6F50-5005-271208FA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9EF3DF-4EF8-68A2-78D6-90A2BC6C7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D81C1F93-6393-15ED-1380-EDC40586E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A5519-F4C7-094C-0588-53D3F7B0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97" y="561011"/>
            <a:ext cx="3406435" cy="4152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F2D2C5-E69E-4B5D-19A0-0CD2B21E3A38}"/>
              </a:ext>
            </a:extLst>
          </p:cNvPr>
          <p:cNvSpPr txBox="1"/>
          <p:nvPr/>
        </p:nvSpPr>
        <p:spPr>
          <a:xfrm>
            <a:off x="4391195" y="2901077"/>
            <a:ext cx="6139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Q2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for month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December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has the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highest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number of quantities sold.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Q3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for the month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March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has the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lowest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number of quantities sold.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Q1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consists of (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approx. 34 %)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of total sold quantity, having highest quantities sold in the month of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November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EB0F4F-EAAC-3D3F-EE19-DF3016540A04}"/>
              </a:ext>
            </a:extLst>
          </p:cNvPr>
          <p:cNvCxnSpPr/>
          <p:nvPr/>
        </p:nvCxnSpPr>
        <p:spPr>
          <a:xfrm>
            <a:off x="343297" y="1817914"/>
            <a:ext cx="3406435" cy="0"/>
          </a:xfrm>
          <a:prstGeom prst="line">
            <a:avLst/>
          </a:prstGeom>
          <a:ln w="12700">
            <a:solidFill>
              <a:srgbClr val="C0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F0BC09-1816-742C-9CE7-07C00A8EDC04}"/>
              </a:ext>
            </a:extLst>
          </p:cNvPr>
          <p:cNvCxnSpPr/>
          <p:nvPr/>
        </p:nvCxnSpPr>
        <p:spPr>
          <a:xfrm>
            <a:off x="343297" y="2721428"/>
            <a:ext cx="3406435" cy="0"/>
          </a:xfrm>
          <a:prstGeom prst="line">
            <a:avLst/>
          </a:prstGeom>
          <a:ln w="12700">
            <a:solidFill>
              <a:srgbClr val="C0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FA1496-C3D6-8FFE-E649-C04C8A9F114F}"/>
              </a:ext>
            </a:extLst>
          </p:cNvPr>
          <p:cNvCxnSpPr/>
          <p:nvPr/>
        </p:nvCxnSpPr>
        <p:spPr>
          <a:xfrm>
            <a:off x="343297" y="3712028"/>
            <a:ext cx="3406435" cy="0"/>
          </a:xfrm>
          <a:prstGeom prst="line">
            <a:avLst/>
          </a:prstGeom>
          <a:ln w="12700">
            <a:solidFill>
              <a:srgbClr val="C0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35693D-65DB-8589-984A-734CA6C4738D}"/>
              </a:ext>
            </a:extLst>
          </p:cNvPr>
          <p:cNvCxnSpPr/>
          <p:nvPr/>
        </p:nvCxnSpPr>
        <p:spPr>
          <a:xfrm>
            <a:off x="343297" y="4724399"/>
            <a:ext cx="3406435" cy="0"/>
          </a:xfrm>
          <a:prstGeom prst="line">
            <a:avLst/>
          </a:prstGeom>
          <a:ln w="12700">
            <a:solidFill>
              <a:srgbClr val="C0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10A40A2-9040-8980-C138-EF18129A9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195" y="561011"/>
            <a:ext cx="3406434" cy="156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19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7B552-D68C-5823-9BF7-F89172DE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97958-6DDE-39DE-9EC8-6550C6F0C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D050DF83-2E7B-237C-F35C-E469401EC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0D57AE-5DD6-E35C-E7B9-4E9E3C228D22}"/>
              </a:ext>
            </a:extLst>
          </p:cNvPr>
          <p:cNvSpPr txBox="1"/>
          <p:nvPr/>
        </p:nvSpPr>
        <p:spPr>
          <a:xfrm>
            <a:off x="506185" y="79090"/>
            <a:ext cx="9617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9.</a:t>
            </a:r>
            <a:r>
              <a:rPr lang="en-US" sz="1600" dirty="0"/>
              <a:t> </a:t>
            </a:r>
            <a:r>
              <a:rPr lang="en-US" sz="1600" b="1" dirty="0"/>
              <a:t>Which channel helped to bring more gross sales in the fiscal year 2021 and the percentage of contribution? The final output contains these fields: channel: </a:t>
            </a:r>
            <a:r>
              <a:rPr lang="en-US" sz="1600" b="1" dirty="0" err="1"/>
              <a:t>gross_sales_mln</a:t>
            </a:r>
            <a:r>
              <a:rPr lang="en-US" sz="1600" b="1" dirty="0"/>
              <a:t>, contribution  percentage. </a:t>
            </a:r>
            <a:endParaRPr lang="en-IN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8FA71-18EE-9B42-E6B9-6E7D89CBF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4" y="1392035"/>
            <a:ext cx="4767158" cy="1449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FFD227-46CA-F2C0-56A2-27238FBEC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499" y="1265416"/>
            <a:ext cx="5858901" cy="4760573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661ED5-D8C5-FCA1-AC89-4DB77BFC84D6}"/>
              </a:ext>
            </a:extLst>
          </p:cNvPr>
          <p:cNvSpPr/>
          <p:nvPr/>
        </p:nvSpPr>
        <p:spPr>
          <a:xfrm>
            <a:off x="5088952" y="1948542"/>
            <a:ext cx="631372" cy="4218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57E104-F2FC-D666-48FF-EA2652141B20}"/>
              </a:ext>
            </a:extLst>
          </p:cNvPr>
          <p:cNvSpPr txBox="1"/>
          <p:nvPr/>
        </p:nvSpPr>
        <p:spPr>
          <a:xfrm>
            <a:off x="185444" y="3323119"/>
            <a:ext cx="4223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Retailer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Channel has brought the highest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Gross Sales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, contribution to more than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73 %.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Distributor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Channel makes the least contribution of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Gross Sales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at a little over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11 %.</a:t>
            </a:r>
          </a:p>
          <a:p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744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5112F-98C0-2758-048C-5B444518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648AEA-3030-024D-F399-80342F404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75954058-5BC0-1DC8-6454-44105376A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913F3-ABF0-E5C8-FDFB-BE39F7F12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1338550"/>
            <a:ext cx="8170685" cy="3200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9C1FC2-5C70-1F43-8DA9-1D1BE1DEF32C}"/>
              </a:ext>
            </a:extLst>
          </p:cNvPr>
          <p:cNvSpPr txBox="1"/>
          <p:nvPr/>
        </p:nvSpPr>
        <p:spPr>
          <a:xfrm>
            <a:off x="876299" y="253777"/>
            <a:ext cx="9617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10. Get the Top 3 products in each division that have a high </a:t>
            </a:r>
            <a:r>
              <a:rPr lang="en-US" sz="1600" b="1" dirty="0" err="1"/>
              <a:t>total_sold_quantity</a:t>
            </a:r>
            <a:r>
              <a:rPr lang="en-US" sz="1600" b="1" dirty="0"/>
              <a:t> in the fiscal_year 2021? The final output contains these fields: division, </a:t>
            </a:r>
            <a:r>
              <a:rPr lang="en-US" sz="1600" b="1" dirty="0" err="1"/>
              <a:t>product_code</a:t>
            </a:r>
            <a:r>
              <a:rPr lang="en-US" sz="1600" b="1" dirty="0"/>
              <a:t>, product, </a:t>
            </a:r>
            <a:r>
              <a:rPr lang="en-US" sz="1600" b="1" dirty="0" err="1"/>
              <a:t>total_sold_quantity</a:t>
            </a:r>
            <a:r>
              <a:rPr lang="en-US" sz="1600" b="1" dirty="0"/>
              <a:t>, </a:t>
            </a:r>
            <a:r>
              <a:rPr lang="en-US" sz="1600" b="1" dirty="0" err="1"/>
              <a:t>rank_order</a:t>
            </a:r>
            <a:r>
              <a:rPr lang="en-US" sz="1600" b="1" dirty="0"/>
              <a:t>.</a:t>
            </a:r>
            <a:endParaRPr lang="en-IN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F85FD-807A-9BB5-83AF-D5A33E5EAA44}"/>
              </a:ext>
            </a:extLst>
          </p:cNvPr>
          <p:cNvSpPr txBox="1"/>
          <p:nvPr/>
        </p:nvSpPr>
        <p:spPr>
          <a:xfrm>
            <a:off x="500743" y="4833257"/>
            <a:ext cx="8087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</a:schemeClr>
                </a:solidFill>
              </a:rPr>
              <a:t>INSIGHTS</a:t>
            </a:r>
          </a:p>
          <a:p>
            <a:endParaRPr lang="en-IN" b="1" u="sng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Compared to “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N &amp; 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” and “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P &amp; A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” division, the top products for “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PC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” division has way 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less quantities sold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24954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2F54E-EA25-9F4D-565C-3B845457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800836-8963-9206-77A5-CBCC643BD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Snip Single Corner Rectangle 17">
            <a:extLst>
              <a:ext uri="{FF2B5EF4-FFF2-40B4-BE49-F238E27FC236}">
                <a16:creationId xmlns:a16="http://schemas.microsoft.com/office/drawing/2014/main" id="{BF650E14-3DB6-0F17-17C8-EAA3BFA74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15341-8202-5D97-110A-89A886B1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664" y="6143"/>
            <a:ext cx="5715495" cy="312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9B2623-DBB3-3A10-4689-63A4E0494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1117132"/>
            <a:ext cx="4001749" cy="4162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1808A4-143F-711F-0C55-A043781A5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911" y="1117131"/>
            <a:ext cx="4234442" cy="41624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D64356-A464-F56D-885F-E10A03C2D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468" y="1117131"/>
            <a:ext cx="3964647" cy="416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75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6D21-D842-DB06-1330-885A83B2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2FAA-9A53-3BDA-6831-49FAFFF31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i="1" cap="none" dirty="0">
                <a:latin typeface="Baguet Script" panose="020F0502020204030204" pitchFamily="2" charset="0"/>
                <a:cs typeface="AngsanaUPC" panose="020B0502040204020203" pitchFamily="18" charset="-34"/>
              </a:rPr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7DFDED-8039-E870-A4A8-6E4413386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278" y="275803"/>
            <a:ext cx="1305152" cy="12771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0FA156-E95B-9598-9A4B-761C2AD6A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514" y="275803"/>
            <a:ext cx="1503973" cy="14985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0319472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1020</TotalTime>
  <Words>972</Words>
  <Application>Microsoft Office PowerPoint</Application>
  <PresentationFormat>Widescreen</PresentationFormat>
  <Paragraphs>186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Abadi</vt:lpstr>
      <vt:lpstr>Arial</vt:lpstr>
      <vt:lpstr>Baguet Script</vt:lpstr>
      <vt:lpstr>Century Gothic</vt:lpstr>
      <vt:lpstr>Wingdings</vt:lpstr>
      <vt:lpstr>Wingdings 3</vt:lpstr>
      <vt:lpstr>Slice</vt:lpstr>
      <vt:lpstr>Ad-Hoc Insights</vt:lpstr>
      <vt:lpstr>AtliQ Hardwares (abstract company) is one of India’s leading computer hardware manufacturers and has also established A strong presence in international markets.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Shounak Dasgupta</dc:creator>
  <cp:lastModifiedBy>Shounak Dasgupta</cp:lastModifiedBy>
  <cp:revision>2</cp:revision>
  <dcterms:created xsi:type="dcterms:W3CDTF">2026-02-02T06:59:18Z</dcterms:created>
  <dcterms:modified xsi:type="dcterms:W3CDTF">2026-02-03T10:06:46Z</dcterms:modified>
</cp:coreProperties>
</file>